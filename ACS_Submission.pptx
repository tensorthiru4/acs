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>
                <a:solidFill>
                  <a:srgbClr val="202124"/>
                </a:solidFill>
                <a:latin typeface="Google Sans Flex SemiBold"/>
              </a:rPr>
              <a:t>End-to-end time on the live deployment (seconds)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Sheet1!$A$2:$A$5</c:f>
              <c:strCache>
                <c:ptCount val="4"/>
                <c:pt idx="0">
                  <c:v>Chat turn</c:v>
                </c:pt>
                <c:pt idx="1">
                  <c:v>Chat + rule-engine tool</c:v>
                </c:pt>
                <c:pt idx="2">
                  <c:v>Policy compile + tests</c:v>
                </c:pt>
                <c:pt idx="3">
                  <c:v>Store audit (4 journeys)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16</c:v>
                </c:pt>
                <c:pt idx="3">
                  <c:v>42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sz="900">
                  <a:solidFill>
                    <a:srgbClr val="202124"/>
                  </a:solidFill>
                  <a:latin typeface="Google Sans Fle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900">
                <a:solidFill>
                  <a:srgbClr val="202124"/>
                </a:solidFill>
                <a:latin typeface="Google Sans Flex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tensorthiru4/ACS" TargetMode="External"/><Relationship Id="rId6" Type="http://schemas.openxmlformats.org/officeDocument/2006/relationships/hyperlink" Target="https://still-tensor-511617-t3.web.app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400">
                <a:latin typeface="Google Sans Flex"/>
                <a:ea typeface="Google Sans Flex"/>
                <a:cs typeface="Google Sans Flex"/>
                <a:sym typeface="Google Sans Flex"/>
              </a:rPr>
              <a:t>Merchants can't yet let AI act safely on refunds, messy B2B orders and AI-shopper traffic.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ACS, the Autonomous Commerce Suite, </a:t>
            </a:r>
            <a:r>
              <a:rPr sz="1300">
                <a:solidFill>
                  <a:srgbClr val="202124"/>
                </a:solidFill>
                <a:latin typeface="Google Sans Flex"/>
              </a:rPr>
              <a:t>is a team of AI agents that runs a merchant's back office: it answers refunds, turns plain-English policy into tested rules, converts messy purchase orders into ERP sales orders, and audits storefronts for AI shoppers. </a:t>
            </a:r>
            <a:r>
              <a:rPr sz="1300">
                <a:solidFill>
                  <a:srgbClr val="1A73E8"/>
                </a:solidFill>
                <a:latin typeface="Google Sans Flex SemiBold"/>
              </a:rPr>
              <a:t>Agents propose; deterministic rules decide; humans approve anything risky.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224028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493776" y="2377440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" y="2761488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ACS Orchestrator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" y="3035808"/>
            <a:ext cx="13167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202124"/>
                </a:solidFill>
                <a:latin typeface="Google Sans Flex"/>
              </a:rPr>
              <a:t>Google ADK agent that chats with staff and routes work to the other agents.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075688" y="224028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2203704" y="2377440"/>
            <a:ext cx="292608" cy="29260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03704" y="2761488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Rule Engine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3704" y="3035808"/>
            <a:ext cx="13167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202124"/>
                </a:solidFill>
                <a:latin typeface="Google Sans Flex"/>
              </a:rPr>
              <a:t>CEL rules give the same answer every time, with rule ids and versions.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785615" y="224028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3913631" y="2377440"/>
            <a:ext cx="292608" cy="292608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13631" y="2761488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Policy Compiler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1" y="3035808"/>
            <a:ext cx="13167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202124"/>
                </a:solidFill>
                <a:latin typeface="Google Sans Flex"/>
              </a:rPr>
              <a:t>Gemini turns policy text into CEL rules, then tests them.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95544" y="224028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5623559" y="2377440"/>
            <a:ext cx="292608" cy="292608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23559" y="2761488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Messy-Order agent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23559" y="3035808"/>
            <a:ext cx="13167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202124"/>
                </a:solidFill>
                <a:latin typeface="Google Sans Flex"/>
              </a:rPr>
              <a:t>Gemini reads PDFs and voice notes; SKUs are matched exactly or by vector search.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05472" y="224028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7333488" y="2377440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33488" y="2761488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Readiness Auditor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33488" y="3035808"/>
            <a:ext cx="13167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202124"/>
                </a:solidFill>
                <a:latin typeface="Google Sans Flex"/>
              </a:rPr>
              <a:t>Playwright walks shopper journeys, scores the store and suggests fixes.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5F6368"/>
                </a:solidFill>
                <a:latin typeface="Google Sans Flex SemiBold"/>
              </a:rPr>
              <a:t>Live on Google Cloud: </a:t>
            </a:r>
            <a:r>
              <a:rPr sz="1100">
                <a:solidFill>
                  <a:srgbClr val="5F6368"/>
                </a:solidFill>
                <a:latin typeface="Google Sans Flex"/>
              </a:rPr>
              <a:t>Cloud Run (scale to zero) · Firestore · Pub/Sub · Workflows · BigQuery · Gemini — all within the free 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28016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30352" y="1426463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1A73E8"/>
                </a:solidFill>
                <a:latin typeface="Google Sans Flex SemiBold"/>
              </a:rPr>
              <a:t>How is it different?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" y="1828800"/>
            <a:ext cx="236829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Most AI commerce tools let the model make the decision. ACS never does: refunds and order approval come from versioned CEL rules.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Policies are compiled and tested before deploy, so business users change behaviour without code.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One system covers both kinds of new traffic: AI shoppers (UCP, A2A) and messy B2B orders.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23260" y="128016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387852" y="1426463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188038"/>
                </a:solidFill>
                <a:latin typeface="Google Sans Flex SemiBold"/>
              </a:rPr>
              <a:t>How does it solve the problem?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7852" y="1828800"/>
            <a:ext cx="236829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Refunds: instant, explainable decisions that cite the rule and version.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B2B orders: PDF or voice → extracted lines → catalog SKUs → draft order in Odoo.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Storefronts: a readiness score per journey, plus fixes ranked by severity.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Anything uncertain goes to a human review queue.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80760" y="128016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245352" y="1426463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D93025"/>
                </a:solidFill>
                <a:latin typeface="Google Sans Flex SemiBold"/>
              </a:rPr>
              <a:t>USP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5352" y="1828800"/>
            <a:ext cx="236829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Built to be safe: tenant isolation, roles, idempotency, a safety gate before Odoo, and always-on guards.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Auditable: every decision is logged and lands in BigQuery.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Runs on the Google Cloud free tier and scales to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93776" y="140817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" y="1426464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Merchant Assistant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6" y="1792224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Chat with the orchestrator. It calls tools for audits, policies, refunds and PO status, and shows live progress for each step.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232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351276" y="1408176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17036" y="1426464"/>
            <a:ext cx="207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Deterministic refunds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51276" y="1792224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CEL rule engine decides APPROVE, DENY or ESCALATE. Idempotency keys stop double payouts; unverified high-value claims always escalate.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807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208776" y="1408176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74536" y="1426464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Policy-as-Code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08776" y="1792224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Plain-English policy becomes JSON-schema CEL rules. Auto-generated tests, human approval, and versioned deploys live within 30 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57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93776" y="3191256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536" y="3209544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Messy PO intake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3776" y="3575303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Upload a PDF or voice note, or receive one in the Gmail inbox. Gemini extracts the lines; SKUs are matched by exact alias, then vector search.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232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351276" y="319125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17036" y="3209544"/>
            <a:ext cx="207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Review &amp; ERP posting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51276" y="3575303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Draft orders queue for review: correct SKUs, approve or reject. Cloud Workflows posts to Odoo behind a safety gate.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0807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208776" y="3191256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74536" y="3209544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Agent-readiness audits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08776" y="3575303"/>
            <a:ext cx="244144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202124"/>
                </a:solidFill>
                <a:latin typeface="Google Sans Flex"/>
              </a:rPr>
              <a:t>Playwright simulates AI-shopper journeys, checks UCP and schema.org, scores 0–100, and Gemini writes the 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" y="1234439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D93025"/>
                </a:solidFill>
                <a:latin typeface="Google Sans Flex SemiBold"/>
              </a:rPr>
              <a:t>Purchase order → ERP (Messy-Order agent)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38912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PO arrives
(upload, Gmail, voice)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413401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1596281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669433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Stored in GCS,
published to Pub/Sub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643922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2826802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2899954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Gemini extracts
lines &amp; terms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874443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057323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130475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SKU match:
exact → vector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104964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5287844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5360996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Google Sans Flex"/>
              </a:rPr>
              <a:t>Rule engine:
order_terms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335485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6518365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6591517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Auto-post or
human review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566006" y="2057400"/>
            <a:ext cx="164592" cy="0"/>
          </a:xfrm>
          <a:prstGeom prst="line">
            <a:avLst/>
          </a:prstGeom>
          <a:ln w="15875">
            <a:solidFill>
              <a:srgbClr val="D9302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7748886" y="1581912"/>
            <a:ext cx="1029353" cy="96012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822038" y="1581912"/>
            <a:ext cx="88304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Google Sans Flex"/>
              </a:rPr>
              <a:t>Safety gate →
Odoo quotation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1A73E8"/>
                </a:solidFill>
                <a:latin typeface="Google Sans Flex SemiBold"/>
              </a:rPr>
              <a:t>Policy lifecycle (Policy-as-Code Compiler)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65760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438912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Admin writes
policy in English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618488" y="3566160"/>
            <a:ext cx="164592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1801367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874519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A2A call to
compiler agent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054095" y="3566160"/>
            <a:ext cx="164592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236975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310127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Gemini → CEL rules
(JSON schema)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489703" y="3566160"/>
            <a:ext cx="164593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4672583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745736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Google Sans Flex"/>
              </a:rPr>
              <a:t>Tests run on
rule engine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25311" y="3566160"/>
            <a:ext cx="164592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6108192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6181344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Google Sans Flex"/>
              </a:rPr>
              <a:t>Human reviews
&amp; approves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360919" y="3566160"/>
            <a:ext cx="164593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7543800" y="3090672"/>
            <a:ext cx="1234439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616952" y="3090672"/>
            <a:ext cx="1088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"/>
              </a:rPr>
              <a:t>Versioned deploy
(live in 30 s)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5F6368"/>
                </a:solidFill>
                <a:latin typeface="Google Sans Flex SemiBold"/>
              </a:rPr>
              <a:t>Refunds and shopper agents </a:t>
            </a:r>
            <a:r>
              <a:rPr sz="1050">
                <a:solidFill>
                  <a:srgbClr val="5F6368"/>
                </a:solidFill>
                <a:latin typeface="Google Sans Flex"/>
              </a:rPr>
              <a:t>go through the same rule engine; anything not approved by a rule is escalated to a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65760" y="1280160"/>
            <a:ext cx="4846320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65760" y="1280160"/>
            <a:ext cx="4846320" cy="25603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475488" y="1362456"/>
            <a:ext cx="91440" cy="9144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621792" y="1362456"/>
            <a:ext cx="91440" cy="9144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768096" y="1362456"/>
            <a:ext cx="91440" cy="9144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365760" y="1536192"/>
            <a:ext cx="1234440" cy="317296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438912" y="1664207"/>
            <a:ext cx="1088136" cy="2743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530352" y="166420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 SemiBold"/>
              </a:rPr>
              <a:t>Assistant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352" y="19933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Draft orders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0352" y="23225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PO intake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0352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Policies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0352" y="29809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Store audits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352" y="331012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Refunds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5488" y="432511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5F6368"/>
                </a:solidFill>
                <a:latin typeface="Google Sans Flex"/>
              </a:rPr>
              <a:t>user · merchant m1 · admin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37360" y="16459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202124"/>
                </a:solidFill>
                <a:latin typeface="Google Sans Flex SemiBold"/>
              </a:rPr>
              <a:t>Assistant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37360" y="1993391"/>
            <a:ext cx="914400" cy="251460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1810512" y="2103120"/>
            <a:ext cx="76809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1810512" y="2468879"/>
            <a:ext cx="76809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ounded Rectangle 121"/>
          <p:cNvSpPr/>
          <p:nvPr/>
        </p:nvSpPr>
        <p:spPr>
          <a:xfrm>
            <a:off x="1810512" y="2834639"/>
            <a:ext cx="76809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ounded Rectangle 122"/>
          <p:cNvSpPr/>
          <p:nvPr/>
        </p:nvSpPr>
        <p:spPr>
          <a:xfrm>
            <a:off x="1810512" y="3200400"/>
            <a:ext cx="76809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ounded Rectangle 123"/>
          <p:cNvSpPr/>
          <p:nvPr/>
        </p:nvSpPr>
        <p:spPr>
          <a:xfrm>
            <a:off x="2761488" y="1993391"/>
            <a:ext cx="2313432" cy="251460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ounded Rectangle 124"/>
          <p:cNvSpPr/>
          <p:nvPr/>
        </p:nvSpPr>
        <p:spPr>
          <a:xfrm>
            <a:off x="3767328" y="2103120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7B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2852928" y="2487168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ounded Rectangle 126"/>
          <p:cNvSpPr/>
          <p:nvPr/>
        </p:nvSpPr>
        <p:spPr>
          <a:xfrm>
            <a:off x="2852928" y="3264408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2889504" y="326440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>
                <a:solidFill>
                  <a:srgbClr val="1A73E8"/>
                </a:solidFill>
                <a:latin typeface="Google Sans Flex"/>
              </a:rPr>
              <a:t>⚙ Rule engine decision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852928" y="4142232"/>
            <a:ext cx="1691640" cy="292608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ounded Rectangle 129"/>
          <p:cNvSpPr/>
          <p:nvPr/>
        </p:nvSpPr>
        <p:spPr>
          <a:xfrm>
            <a:off x="4608576" y="4142232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7B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548640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Pages, filtered by role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5486400" y="1664207"/>
          <a:ext cx="3291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</a:tblGrid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Google Sans Flex SemiBold"/>
                        </a:rPr>
                        <a:t>Page</a:t>
                      </a:r>
                    </a:p>
                  </a:txBody>
                  <a:tcPr marL="73152" marR="73152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Google Sans Flex SemiBold"/>
                        </a:rPr>
                        <a:t>Minimum role</a:t>
                      </a:r>
                    </a:p>
                  </a:txBody>
                  <a:tcPr marL="73152" marR="73152">
                    <a:solidFill>
                      <a:srgbClr val="20212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Assistant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viewer+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Draft 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viewer · review: 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PO intake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viewer · upload: analyst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Policies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Store audits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viewer · start: analyst</a:t>
                      </a:r>
                    </a:p>
                  </a:txBody>
                  <a:tcPr marL="73152" marR="73152">
                    <a:solidFill>
                      <a:srgbClr val="F1F3F4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Refunds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analyst+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5486400" y="4069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5F6368"/>
                </a:solidFill>
                <a:latin typeface="Google Sans Flex"/>
              </a:rPr>
              <a:t>The orchestrator enforces the same role table on the server, so hiding a page is never the only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65760" y="1234439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 SemiBold"/>
              </a:rPr>
              <a:t>CHANNELS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150876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420624" y="1554480"/>
            <a:ext cx="13533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AI shopper agents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UCP · A2A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2624328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20624" y="2670048"/>
            <a:ext cx="13533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Merchant Console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React on Firebase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5760" y="3739896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20624" y="3785615"/>
            <a:ext cx="13533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B2B inbox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Gmail · PDF · voice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03120" y="1234439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 SemiBold"/>
              </a:rPr>
              <a:t>FRONT DOOR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03120" y="150876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157984" y="1554480"/>
            <a:ext cx="126187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Firebase Hosting + Auth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ID tokens with merchant &amp; role claims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103120" y="3108959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2157984" y="3154679"/>
            <a:ext cx="126187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API Gateway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JWT check, quotas, one front door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49039" y="1234439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 SemiBold"/>
              </a:rPr>
              <a:t>ORCHESTRATOR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749039" y="1508760"/>
            <a:ext cx="1463040" cy="306324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803903" y="1554480"/>
            <a:ext cx="1353312" cy="297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Google Sans Flex SemiBold"/>
              </a:rPr>
              <a:t>ACS Orchestrator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Google Sans Flex"/>
              </a:rPr>
              <a:t>Google ADK on Cloud Run
sessions · tenancy · roles · idempotency · audit log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0" y="1234439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 SemiBold"/>
              </a:rPr>
              <a:t>AGENTS (Cloud Run)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0" y="1508760"/>
            <a:ext cx="1554480" cy="676656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541264" y="1554480"/>
            <a:ext cx="14447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Readiness Auditor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Playwright + Gemini · A2A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486400" y="2295144"/>
            <a:ext cx="1554480" cy="676656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5541264" y="2340863"/>
            <a:ext cx="14447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Policy Compiler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Gemini + JSON Schema · A2A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0" y="3081528"/>
            <a:ext cx="1554480" cy="676656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541264" y="3127248"/>
            <a:ext cx="14447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Rule Engine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CEL · deterministic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486400" y="3867912"/>
            <a:ext cx="1554480" cy="676656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5541264" y="3913632"/>
            <a:ext cx="14447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Messy-Order agent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Gemini multimodal · Pub/Sub push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15200" y="1234439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 SemiBold"/>
              </a:rPr>
              <a:t>DATA &amp; ERP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315200" y="1508760"/>
            <a:ext cx="1463040" cy="67665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370064" y="1554480"/>
            <a:ext cx="135331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BigQuery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scores · audit log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0" y="2295144"/>
            <a:ext cx="1463040" cy="67665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7370064" y="2340863"/>
            <a:ext cx="135331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Firestore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rules · sessions · SKU vectors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315200" y="3081528"/>
            <a:ext cx="1463040" cy="67665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7370064" y="3127248"/>
            <a:ext cx="135331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Cloud Storage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raw POs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315200" y="3867912"/>
            <a:ext cx="1463040" cy="676656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370064" y="3913632"/>
            <a:ext cx="135331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SemiBold"/>
              </a:rPr>
              <a:t>Workflows → Odoo</a:t>
            </a:r>
          </a:p>
          <a:p>
            <a:pPr algn="ctr"/>
            <a:r>
              <a:rPr sz="800">
                <a:solidFill>
                  <a:srgbClr val="5F6368"/>
                </a:solidFill>
                <a:latin typeface="Google Sans Flex"/>
              </a:rPr>
              <a:t>ERP bridge + safety gate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847088" y="1938528"/>
            <a:ext cx="237743" cy="301752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847088" y="3054096"/>
            <a:ext cx="237743" cy="786384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847088" y="3840480"/>
            <a:ext cx="237743" cy="329184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93008" y="2240280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3008" y="3840480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230368" y="1847088"/>
            <a:ext cx="237744" cy="118872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059168" y="1847088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230368" y="2633472"/>
            <a:ext cx="237744" cy="402336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059168" y="2633472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230368" y="3035808"/>
            <a:ext cx="237744" cy="384048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059168" y="3419856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230368" y="3035808"/>
            <a:ext cx="237744" cy="1170432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059168" y="4206240"/>
            <a:ext cx="23774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365760" y="45537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5F6368"/>
                </a:solidFill>
                <a:latin typeface="Google Sans Flex"/>
              </a:rPr>
              <a:t>Gemini Flash powers every LLM step; Cloud Tasks queues audits; Secret Manager holds credentials; Terraform builds all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12064" y="140817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D93025"/>
                </a:solidFill>
                <a:latin typeface="Google Sans Flex SemiBold"/>
              </a:rPr>
              <a:t>AI &amp; agents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12064" y="1783080"/>
            <a:ext cx="87416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12064" y="1783080"/>
            <a:ext cx="87416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Gemini Flash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459382" y="1783080"/>
            <a:ext cx="118506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1459382" y="1783080"/>
            <a:ext cx="11850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Gemini embeddings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12064" y="21122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12064" y="2112264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Google ADK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335024" y="2112264"/>
            <a:ext cx="87416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335024" y="2112264"/>
            <a:ext cx="87416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A2A protocol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282342" y="2112264"/>
            <a:ext cx="31455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2282342" y="2112264"/>
            <a:ext cx="3145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UCP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12064" y="2441448"/>
            <a:ext cx="124724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12064" y="2441448"/>
            <a:ext cx="124724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JSON Schema output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2232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3369564" y="140817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1A73E8"/>
                </a:solidFill>
                <a:latin typeface="Google Sans Flex SemiBold"/>
              </a:rPr>
              <a:t>Google Cloud runtime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369564" y="1783080"/>
            <a:ext cx="6876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369564" y="1783080"/>
            <a:ext cx="6876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Run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130344" y="1783080"/>
            <a:ext cx="8119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4130344" y="1783080"/>
            <a:ext cx="8119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API Gateway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015484" y="1783080"/>
            <a:ext cx="56327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5015484" y="1783080"/>
            <a:ext cx="56327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Pub/Sub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369564" y="2112264"/>
            <a:ext cx="8119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369564" y="2112264"/>
            <a:ext cx="8119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Tasks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54703" y="2112264"/>
            <a:ext cx="10607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254703" y="2112264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Workflows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69564" y="2441448"/>
            <a:ext cx="9985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3369564" y="2441448"/>
            <a:ext cx="9985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Secret Manager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080760" y="1280160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6227064" y="140817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188038"/>
                </a:solidFill>
                <a:latin typeface="Google Sans Flex SemiBold"/>
              </a:rPr>
              <a:t>Data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227064" y="1783080"/>
            <a:ext cx="6876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27064" y="1783080"/>
            <a:ext cx="6876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Firestore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987844" y="1783080"/>
            <a:ext cx="155813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987844" y="1783080"/>
            <a:ext cx="155813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Firestore vector search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27064" y="2112264"/>
            <a:ext cx="62544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6227064" y="2112264"/>
            <a:ext cx="62544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BigQuery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925665" y="2112264"/>
            <a:ext cx="93634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6925665" y="2112264"/>
            <a:ext cx="93634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Storage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227064" y="2441448"/>
            <a:ext cx="93634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6227064" y="2441448"/>
            <a:ext cx="93634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Logging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12064" y="319125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F9AB00"/>
                </a:solidFill>
                <a:latin typeface="Google Sans Flex SemiBold"/>
              </a:rPr>
              <a:t>Rules &amp; automation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12064" y="3566159"/>
            <a:ext cx="112288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512064" y="3566159"/>
            <a:ext cx="11228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CEL (cel-python)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708099" y="3566159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1708099" y="356615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Playwright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12064" y="3895344"/>
            <a:ext cx="87416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512064" y="3895344"/>
            <a:ext cx="87416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Odoo XML-RPC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459382" y="3895344"/>
            <a:ext cx="6876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1459382" y="3895344"/>
            <a:ext cx="6876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Gmail API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2232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3369564" y="319125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1A73E8"/>
                </a:solidFill>
                <a:latin typeface="Google Sans Flex SemiBold"/>
              </a:rPr>
              <a:t>Frontend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369564" y="3566159"/>
            <a:ext cx="62544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3369564" y="3566159"/>
            <a:ext cx="62544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React 19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068165" y="3566159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4068165" y="356615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TypeScript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891125" y="3566159"/>
            <a:ext cx="3767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4891125" y="3566159"/>
            <a:ext cx="3767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Vite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369564" y="3895344"/>
            <a:ext cx="112288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3369564" y="3895344"/>
            <a:ext cx="11228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Firebase Hosting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565599" y="3895344"/>
            <a:ext cx="93634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4565599" y="3895344"/>
            <a:ext cx="93634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Firebase Auth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080760" y="3063239"/>
            <a:ext cx="269748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6227064" y="3191256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188038"/>
                </a:solidFill>
                <a:latin typeface="Google Sans Flex SemiBold"/>
              </a:rPr>
              <a:t>Build &amp; ops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227064" y="3566159"/>
            <a:ext cx="93634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227064" y="3566159"/>
            <a:ext cx="93634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Python 3 + uv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236561" y="3566159"/>
            <a:ext cx="6876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7236561" y="3566159"/>
            <a:ext cx="6876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Terraform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227064" y="3895344"/>
            <a:ext cx="8119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6227064" y="3895344"/>
            <a:ext cx="8119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Cloud Build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112203" y="389534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7112203" y="38953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GitHub Actions (WIF)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227064" y="4224528"/>
            <a:ext cx="10607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6227064" y="4224528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>
                <a:solidFill>
                  <a:srgbClr val="202124"/>
                </a:solidFill>
                <a:latin typeface="Google Sans Flex"/>
              </a:rPr>
              <a:t>pytest · vitest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2801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48640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Google Sans Flex"/>
              </a:rPr>
              <a:t>Prototype running cost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>
                <a:solidFill>
                  <a:srgbClr val="FFFFFF"/>
                </a:solidFill>
                <a:latin typeface="Google Sans Flex SemiBold"/>
              </a:rPr>
              <a:t>₹0 / month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2697480"/>
            <a:ext cx="2377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500"/>
              </a:spcAft>
              <a:buChar char="•"/>
            </a:pPr>
            <a:r>
              <a:rPr sz="1000">
                <a:solidFill>
                  <a:srgbClr val="FFFFFF"/>
                </a:solidFill>
                <a:latin typeface="Google Sans Flex"/>
              </a:rPr>
              <a:t>Every service stays inside the Google Cloud always-free allowance.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00">
                <a:solidFill>
                  <a:srgbClr val="FFFFFF"/>
                </a:solidFill>
                <a:latin typeface="Google Sans Flex"/>
              </a:rPr>
              <a:t>All agents scale to zero when idle.</a:t>
            </a:r>
          </a:p>
          <a:p>
            <a:pPr algn="l" marL="164592" indent="-146304">
              <a:spcAft>
                <a:spcPts val="500"/>
              </a:spcAft>
              <a:buChar char="•"/>
            </a:pPr>
            <a:r>
              <a:rPr sz="1000">
                <a:solidFill>
                  <a:srgbClr val="FFFFFF"/>
                </a:solidFill>
                <a:latin typeface="Google Sans Flex"/>
              </a:rPr>
              <a:t>The first cost as volume grows is Gemini: the free tier allows about 20 requests per model per day.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3291840" y="12801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011680"/>
              </a:tblGrid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Google Sans Flex SemiBold"/>
                        </a:rPr>
                        <a:t>Service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Google Sans Flex SemiBold"/>
                        </a:rPr>
                        <a:t>Always-free allowance / month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Google Sans Flex SemiBold"/>
                        </a:rPr>
                        <a:t>ACS use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Cloud Run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2M requests · 180k vCPU-s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5 services, scale to zero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Firestore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1 GiB · 50k reads/day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rules, sessions, SKU vectors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Pub/Sub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10 GiB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PO intake events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Cloud Storage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5 GB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raw POs, 90-day TTL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BigQuery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10 GB stored · 1 TB query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scores, audit log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API Gateway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2M calls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front door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Cloud Workflows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5,000 steps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~15 steps per order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Cloud Build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2,500 build-min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CI/CD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_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19"/>
            <a:ext cx="4069080" cy="228885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65760" y="3514153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5F6368"/>
                </a:solidFill>
                <a:latin typeface="Google Sans Flex"/>
              </a:rPr>
              <a:t>Assistant: refund question answered by the rule engine</a:t>
            </a:r>
          </a:p>
        </p:txBody>
      </p:sp>
      <p:pic>
        <p:nvPicPr>
          <p:cNvPr id="138" name="Picture 137" descr="shot_1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188719"/>
            <a:ext cx="4069080" cy="228885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709160" y="3514153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5F6368"/>
                </a:solidFill>
                <a:latin typeface="Google Sans Flex"/>
              </a:rPr>
              <a:t>Policies: compiled CEL rule with 6/6 tests passing</a:t>
            </a:r>
          </a:p>
        </p:txBody>
      </p:sp>
      <p:pic>
        <p:nvPicPr>
          <p:cNvPr id="140" name="Picture 139" descr="shot_1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825049"/>
            <a:ext cx="4069080" cy="228885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65760" y="6150482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5F6368"/>
                </a:solidFill>
                <a:latin typeface="Google Sans Flex"/>
              </a:rPr>
              <a:t>Draft order: exact, vector and unmatched SKU lines</a:t>
            </a:r>
          </a:p>
        </p:txBody>
      </p:sp>
      <p:pic>
        <p:nvPicPr>
          <p:cNvPr id="142" name="Picture 141" descr="shot_2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825049"/>
            <a:ext cx="4069080" cy="228885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709160" y="6150482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5F6368"/>
                </a:solidFill>
                <a:latin typeface="Google Sans Flex"/>
              </a:rPr>
              <a:t>Store audit: readiness score with ranked fixes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280160"/>
            <a:ext cx="1993392" cy="11887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12064" y="13716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>
                <a:solidFill>
                  <a:srgbClr val="188038"/>
                </a:solidFill>
                <a:latin typeface="Google Sans Flex SemiBold"/>
              </a:rPr>
              <a:t>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12064" y="193852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automated tests passing
(166 Python · 11 console)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96312" y="1280160"/>
            <a:ext cx="1993392" cy="1188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642616" y="13716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>
                <a:solidFill>
                  <a:srgbClr val="1A73E8"/>
                </a:solidFill>
                <a:latin typeface="Google Sans Flex SemiBold"/>
              </a:rPr>
              <a:t>6 / 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42616" y="193852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policy test cases passed
before deploy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26864" y="1280160"/>
            <a:ext cx="1993392" cy="11887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773168" y="13716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>
                <a:solidFill>
                  <a:srgbClr val="D93025"/>
                </a:solidFill>
                <a:latin typeface="Google Sans Flex SemiBold"/>
              </a:rPr>
              <a:t>98%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73168" y="193852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PO read confidence;
5 of 6 lines matched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57416" y="1280160"/>
            <a:ext cx="1993392" cy="11887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903720" y="13716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>
                <a:solidFill>
                  <a:srgbClr val="F9AB00"/>
                </a:solidFill>
                <a:latin typeface="Google Sans Flex SemiBold"/>
              </a:rPr>
              <a:t>24.9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03720" y="193852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202124"/>
                </a:solidFill>
                <a:latin typeface="Google Sans Flex"/>
              </a:rPr>
              <a:t>readiness score found on
a live Odoo storefront</a:t>
            </a:r>
          </a:p>
        </p:txBody>
      </p:sp>
      <p:graphicFrame>
        <p:nvGraphicFramePr>
          <p:cNvPr id="156" name="Chart 155"/>
          <p:cNvGraphicFramePr>
            <a:graphicFrameLocks noGrp="1"/>
          </p:cNvGraphicFramePr>
          <p:nvPr/>
        </p:nvGraphicFramePr>
        <p:xfrm>
          <a:off x="365760" y="2651760"/>
          <a:ext cx="5120640" cy="192024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5760720" y="2651760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>
                <a:solidFill>
                  <a:srgbClr val="202124"/>
                </a:solidFill>
                <a:latin typeface="Google Sans Flex SemiBold"/>
              </a:rPr>
              <a:t>Measured </a:t>
            </a:r>
            <a:r>
              <a:rPr sz="950">
                <a:solidFill>
                  <a:srgbClr val="202124"/>
                </a:solidFill>
                <a:latin typeface="Google Sans Flex"/>
              </a:rPr>
              <a:t>in the recorded demo on 17 Oct 2026, on free-tier Gemini, from click to result (±1 s).</a:t>
            </a:r>
          </a:p>
          <a:p>
            <a:pPr algn="l">
              <a:spcAft>
                <a:spcPts val="600"/>
              </a:spcAft>
            </a:pPr>
            <a:r>
              <a:rPr sz="950">
                <a:solidFill>
                  <a:srgbClr val="202124"/>
                </a:solidFill>
                <a:latin typeface="Google Sans Flex SemiBold"/>
              </a:rPr>
              <a:t>Resilient: </a:t>
            </a:r>
            <a:r>
              <a:rPr sz="950">
                <a:solidFill>
                  <a:srgbClr val="202124"/>
                </a:solidFill>
                <a:latin typeface="Google Sans Flex"/>
              </a:rPr>
              <a:t>agents switch to a Gemma fallback model when Gemini Flash is overloaded.</a:t>
            </a:r>
          </a:p>
          <a:p>
            <a:pPr algn="l">
              <a:spcAft>
                <a:spcPts val="600"/>
              </a:spcAft>
            </a:pPr>
            <a:r>
              <a:rPr sz="950">
                <a:solidFill>
                  <a:srgbClr val="202124"/>
                </a:solidFill>
                <a:latin typeface="Google Sans Flex SemiBold"/>
              </a:rPr>
              <a:t>Deterministic: </a:t>
            </a:r>
            <a:r>
              <a:rPr sz="950">
                <a:solidFill>
                  <a:srgbClr val="202124"/>
                </a:solidFill>
                <a:latin typeface="Google Sans Flex"/>
              </a:rPr>
              <a:t>a refund decision is a rule-engine call, with no model in the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280160"/>
            <a:ext cx="4114800" cy="34747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548640" y="1444751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188038"/>
                </a:solidFill>
                <a:latin typeface="Google Sans Flex SemiBold"/>
              </a:rPr>
              <a:t>Built and live today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48640" y="1847088"/>
            <a:ext cx="3749039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5 services on Cloud Run, with Terraform, CI/CD and IAM.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Merchant Console on Firebase Hosting.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Security: tenant isolation, roles, idempotency, ERP safety gate, audit log in BigQuery.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Gemini → Gemma fallback when the model is busy.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63440" y="1280160"/>
            <a:ext cx="4114800" cy="3474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4846320" y="1444751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1A73E8"/>
                </a:solidFill>
                <a:latin typeface="Google Sans Flex SemiBold"/>
              </a:rPr>
              <a:t>Next steps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846320" y="1847088"/>
            <a:ext cx="3749039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Connect a production Odoo and turn on automatic posting.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Paid Gemini tier for production volume.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Broaden UCP support so AI shoppers can complete checkout end to end.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More rule sets (pricing, returns windows), plus a policy diff view.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Readiness-trend dashboards from BigQuery.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lang="en-GB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: https://github.com/tensorthiru4/ACS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lang="en-GB">
                <a:solidFill>
                  <a:srgbClr val="D9302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[add the YouTube/Drive link after uploading acs-demo-3min.mp4]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lang="en-GB">
                <a:solidFill>
                  <a:srgbClr val="1A73E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: https://still-tensor-511617-t3.web.app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65760" y="28346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530352" y="2999232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30352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Code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0352" y="372160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F6368"/>
                </a:solidFill>
                <a:latin typeface="Google Sans Flex"/>
              </a:rPr>
              <a:t>Monorepo: 5 services, Terraform, console, docs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227832" y="28346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3392424" y="2999232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92424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Demo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92424" y="372160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F6368"/>
                </a:solidFill>
                <a:latin typeface="Google Sans Flex"/>
              </a:rPr>
              <a:t>3-minute narrated walkthrough of the live system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89904" y="28346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6254496" y="299923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54496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Live app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254496" y="372160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F6368"/>
                </a:solidFill>
                <a:latin typeface="Google Sans Flex"/>
              </a:rPr>
              <a:t>Merchant Console on Firebase Hosting (sign-in required)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